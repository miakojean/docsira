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DM Sans Bold" charset="1" panose="00000000000000000000"/>
      <p:regular r:id="rId36"/>
    </p:embeddedFont>
    <p:embeddedFont>
      <p:font typeface="Montserrat Bold" charset="1" panose="00000800000000000000"/>
      <p:regular r:id="rId37"/>
    </p:embeddedFont>
    <p:embeddedFont>
      <p:font typeface="DM Sans" charset="1" panose="00000000000000000000"/>
      <p:regular r:id="rId38"/>
    </p:embeddedFont>
    <p:embeddedFont>
      <p:font typeface="Proxima Nova" charset="1" panose="02000506030000020004"/>
      <p:regular r:id="rId39"/>
    </p:embeddedFont>
    <p:embeddedFont>
      <p:font typeface="Proxima Nova Italics" charset="1" panose="02000506030000020004"/>
      <p:regular r:id="rId40"/>
    </p:embeddedFont>
    <p:embeddedFont>
      <p:font typeface="Proxima Nova Bold" charset="1" panose="02000506030000020004"/>
      <p:regular r:id="rId41"/>
    </p:embeddedFont>
    <p:embeddedFont>
      <p:font typeface="League Spartan" charset="1" panose="000008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VAHU4ZAOWTA.mp4" Type="http://schemas.openxmlformats.org/officeDocument/2006/relationships/video"/><Relationship Id="rId5" Target="../media/VAHU4ZAOWTA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VAHU4yeaSFU.mp4" Type="http://schemas.openxmlformats.org/officeDocument/2006/relationships/video"/><Relationship Id="rId4" Target="../media/VAHU4yeaSFU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46" y="-100622"/>
            <a:ext cx="18245554" cy="12160270"/>
          </a:xfrm>
          <a:custGeom>
            <a:avLst/>
            <a:gdLst/>
            <a:ahLst/>
            <a:cxnLst/>
            <a:rect r="r" b="b" t="t" l="l"/>
            <a:pathLst>
              <a:path h="12160270" w="18245554">
                <a:moveTo>
                  <a:pt x="0" y="0"/>
                </a:moveTo>
                <a:lnTo>
                  <a:pt x="18245554" y="0"/>
                </a:lnTo>
                <a:lnTo>
                  <a:pt x="18245554" y="12160271"/>
                </a:lnTo>
                <a:lnTo>
                  <a:pt x="0" y="12160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427874" y="0"/>
            <a:ext cx="19143748" cy="10768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248726"/>
            <a:ext cx="18926041" cy="10645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6572" y="0"/>
            <a:ext cx="15300531" cy="10197476"/>
          </a:xfrm>
          <a:custGeom>
            <a:avLst/>
            <a:gdLst/>
            <a:ahLst/>
            <a:cxnLst/>
            <a:rect r="r" b="b" t="t" l="l"/>
            <a:pathLst>
              <a:path h="10197476" w="15300531">
                <a:moveTo>
                  <a:pt x="0" y="0"/>
                </a:moveTo>
                <a:lnTo>
                  <a:pt x="15300531" y="0"/>
                </a:lnTo>
                <a:lnTo>
                  <a:pt x="15300531" y="10197476"/>
                </a:lnTo>
                <a:lnTo>
                  <a:pt x="0" y="10197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9677" y="0"/>
            <a:ext cx="15646385" cy="10427980"/>
          </a:xfrm>
          <a:custGeom>
            <a:avLst/>
            <a:gdLst/>
            <a:ahLst/>
            <a:cxnLst/>
            <a:rect r="r" b="b" t="t" l="l"/>
            <a:pathLst>
              <a:path h="10427980" w="15646385">
                <a:moveTo>
                  <a:pt x="0" y="0"/>
                </a:moveTo>
                <a:lnTo>
                  <a:pt x="15646385" y="0"/>
                </a:lnTo>
                <a:lnTo>
                  <a:pt x="15646385" y="10427980"/>
                </a:lnTo>
                <a:lnTo>
                  <a:pt x="0" y="1042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1456" y="0"/>
            <a:ext cx="15434855" cy="10287000"/>
          </a:xfrm>
          <a:custGeom>
            <a:avLst/>
            <a:gdLst/>
            <a:ahLst/>
            <a:cxnLst/>
            <a:rect r="r" b="b" t="t" l="l"/>
            <a:pathLst>
              <a:path h="10287000" w="15434855">
                <a:moveTo>
                  <a:pt x="0" y="0"/>
                </a:moveTo>
                <a:lnTo>
                  <a:pt x="15434855" y="0"/>
                </a:lnTo>
                <a:lnTo>
                  <a:pt x="154348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585" y="135665"/>
            <a:ext cx="15342168" cy="10225226"/>
          </a:xfrm>
          <a:custGeom>
            <a:avLst/>
            <a:gdLst/>
            <a:ahLst/>
            <a:cxnLst/>
            <a:rect r="r" b="b" t="t" l="l"/>
            <a:pathLst>
              <a:path h="10225226" w="15342168">
                <a:moveTo>
                  <a:pt x="0" y="0"/>
                </a:moveTo>
                <a:lnTo>
                  <a:pt x="15342168" y="0"/>
                </a:lnTo>
                <a:lnTo>
                  <a:pt x="15342168" y="10225226"/>
                </a:lnTo>
                <a:lnTo>
                  <a:pt x="0" y="10225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5976662" cy="10648103"/>
          </a:xfrm>
          <a:custGeom>
            <a:avLst/>
            <a:gdLst/>
            <a:ahLst/>
            <a:cxnLst/>
            <a:rect r="r" b="b" t="t" l="l"/>
            <a:pathLst>
              <a:path h="10648103" w="15976662">
                <a:moveTo>
                  <a:pt x="0" y="0"/>
                </a:moveTo>
                <a:lnTo>
                  <a:pt x="15976662" y="0"/>
                </a:lnTo>
                <a:lnTo>
                  <a:pt x="15976662" y="10648103"/>
                </a:lnTo>
                <a:lnTo>
                  <a:pt x="0" y="10648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9248" y="-242349"/>
            <a:ext cx="16162107" cy="10771697"/>
          </a:xfrm>
          <a:custGeom>
            <a:avLst/>
            <a:gdLst/>
            <a:ahLst/>
            <a:cxnLst/>
            <a:rect r="r" b="b" t="t" l="l"/>
            <a:pathLst>
              <a:path h="10771697" w="16162107">
                <a:moveTo>
                  <a:pt x="0" y="0"/>
                </a:moveTo>
                <a:lnTo>
                  <a:pt x="16162106" y="0"/>
                </a:lnTo>
                <a:lnTo>
                  <a:pt x="16162106" y="10771698"/>
                </a:lnTo>
                <a:lnTo>
                  <a:pt x="0" y="107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674" y="-121513"/>
            <a:ext cx="16596289" cy="10964656"/>
          </a:xfrm>
          <a:custGeom>
            <a:avLst/>
            <a:gdLst/>
            <a:ahLst/>
            <a:cxnLst/>
            <a:rect r="r" b="b" t="t" l="l"/>
            <a:pathLst>
              <a:path h="10964656" w="16596289">
                <a:moveTo>
                  <a:pt x="0" y="0"/>
                </a:moveTo>
                <a:lnTo>
                  <a:pt x="16596288" y="0"/>
                </a:lnTo>
                <a:lnTo>
                  <a:pt x="16596288" y="10964656"/>
                </a:lnTo>
                <a:lnTo>
                  <a:pt x="0" y="10964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9" r="0" b="-43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1230" y="-56879"/>
            <a:ext cx="15605540" cy="10400758"/>
          </a:xfrm>
          <a:custGeom>
            <a:avLst/>
            <a:gdLst/>
            <a:ahLst/>
            <a:cxnLst/>
            <a:rect r="r" b="b" t="t" l="l"/>
            <a:pathLst>
              <a:path h="10400758" w="15605540">
                <a:moveTo>
                  <a:pt x="0" y="0"/>
                </a:moveTo>
                <a:lnTo>
                  <a:pt x="15605540" y="0"/>
                </a:lnTo>
                <a:lnTo>
                  <a:pt x="15605540" y="10400758"/>
                </a:lnTo>
                <a:lnTo>
                  <a:pt x="0" y="10400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6136104" cy="10754367"/>
          </a:xfrm>
          <a:custGeom>
            <a:avLst/>
            <a:gdLst/>
            <a:ahLst/>
            <a:cxnLst/>
            <a:rect r="r" b="b" t="t" l="l"/>
            <a:pathLst>
              <a:path h="10754367" w="16136104">
                <a:moveTo>
                  <a:pt x="0" y="0"/>
                </a:moveTo>
                <a:lnTo>
                  <a:pt x="16136104" y="0"/>
                </a:lnTo>
                <a:lnTo>
                  <a:pt x="16136104" y="10754367"/>
                </a:lnTo>
                <a:lnTo>
                  <a:pt x="0" y="10754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486" y="0"/>
            <a:ext cx="15794760" cy="10526869"/>
          </a:xfrm>
          <a:custGeom>
            <a:avLst/>
            <a:gdLst/>
            <a:ahLst/>
            <a:cxnLst/>
            <a:rect r="r" b="b" t="t" l="l"/>
            <a:pathLst>
              <a:path h="10526869" w="15794760">
                <a:moveTo>
                  <a:pt x="0" y="0"/>
                </a:moveTo>
                <a:lnTo>
                  <a:pt x="15794760" y="0"/>
                </a:lnTo>
                <a:lnTo>
                  <a:pt x="15794760" y="10526869"/>
                </a:lnTo>
                <a:lnTo>
                  <a:pt x="0" y="10526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045" y="-404352"/>
            <a:ext cx="16648255" cy="11095705"/>
          </a:xfrm>
          <a:custGeom>
            <a:avLst/>
            <a:gdLst/>
            <a:ahLst/>
            <a:cxnLst/>
            <a:rect r="r" b="b" t="t" l="l"/>
            <a:pathLst>
              <a:path h="11095705" w="16648255">
                <a:moveTo>
                  <a:pt x="0" y="0"/>
                </a:moveTo>
                <a:lnTo>
                  <a:pt x="16648255" y="0"/>
                </a:lnTo>
                <a:lnTo>
                  <a:pt x="16648255" y="11095704"/>
                </a:lnTo>
                <a:lnTo>
                  <a:pt x="0" y="11095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127" t="0" r="-52127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920899" y="0"/>
            <a:ext cx="10668000" cy="10287000"/>
            <a:chOff x="0" y="0"/>
            <a:chExt cx="1422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2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426">
                <a:alpha val="5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22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81915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88" b="true">
                <a:solidFill>
                  <a:srgbClr val="B9EF3B"/>
                </a:solidFill>
                <a:latin typeface="DM Sans Bold"/>
                <a:ea typeface="DM Sans Bold"/>
                <a:cs typeface="DM Sans Bold"/>
                <a:sym typeface="DM Sans Bold"/>
              </a:rPr>
              <a:t>ADN / CONSULTING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4266" y="2533031"/>
            <a:ext cx="8524753" cy="240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2"/>
              </a:lnSpc>
            </a:pPr>
            <a:r>
              <a:rPr lang="en-US" sz="90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ADN</a:t>
            </a:r>
          </a:p>
          <a:p>
            <a:pPr algn="l">
              <a:lnSpc>
                <a:spcPts val="9312"/>
              </a:lnSpc>
            </a:pPr>
            <a:r>
              <a:rPr lang="en-US" sz="90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CONSULTING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00" y="5191125"/>
            <a:ext cx="1047750" cy="66675"/>
            <a:chOff x="0" y="0"/>
            <a:chExt cx="1397000" cy="88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B9EF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2500" y="5866664"/>
            <a:ext cx="8288285" cy="194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4"/>
              </a:lnSpc>
            </a:pPr>
            <a:r>
              <a:rPr lang="en-US" sz="42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Le droit au service de l’entreprise</a:t>
            </a:r>
          </a:p>
          <a:p>
            <a:pPr algn="l">
              <a:lnSpc>
                <a:spcPts val="5114"/>
              </a:lnSpc>
            </a:pPr>
            <a:r>
              <a:rPr lang="en-US" sz="42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et de l’innovation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9172575"/>
            <a:ext cx="952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1C7D9"/>
                </a:solidFill>
                <a:latin typeface="DM Sans Bold"/>
                <a:ea typeface="DM Sans Bold"/>
                <a:cs typeface="DM Sans Bold"/>
                <a:sym typeface="DM Sans Bold"/>
              </a:rPr>
              <a:t>CONSEIL JURIDIQUE  •  INNOVATION  •  DIGITALISATION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21C7D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  /  CONVICTION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21C7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104900" y="2109608"/>
            <a:ext cx="17183100" cy="2214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sz="832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« Entreprendre, c’est</a:t>
            </a:r>
          </a:p>
          <a:p>
            <a:pPr algn="l">
              <a:lnSpc>
                <a:spcPts val="8575"/>
              </a:lnSpc>
            </a:pPr>
            <a:r>
              <a:rPr lang="en-US" sz="832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prendre des décisions. »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5086350"/>
            <a:ext cx="13563600" cy="65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3"/>
              </a:lnSpc>
            </a:pPr>
            <a:r>
              <a:rPr lang="en-US" sz="3995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Les bonnes décisions méritent un cadre juridique solide.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" y="6858000"/>
            <a:ext cx="2857500" cy="952500"/>
            <a:chOff x="0" y="0"/>
            <a:chExt cx="3810000" cy="127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193800"/>
                  </a:lnTo>
                  <a:cubicBezTo>
                    <a:pt x="3810000" y="1235884"/>
                    <a:pt x="3775884" y="1270000"/>
                    <a:pt x="3733800" y="1270000"/>
                  </a:cubicBezTo>
                  <a:lnTo>
                    <a:pt x="76200" y="1270000"/>
                  </a:lnTo>
                  <a:cubicBezTo>
                    <a:pt x="34116" y="1270000"/>
                    <a:pt x="0" y="1235884"/>
                    <a:pt x="0" y="1193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1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IDÉE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905250" y="7334250"/>
            <a:ext cx="952500" cy="0"/>
          </a:xfrm>
          <a:prstGeom prst="line">
            <a:avLst/>
          </a:prstGeom>
          <a:ln cap="rnd" w="28575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048250" y="6858000"/>
            <a:ext cx="2857500" cy="952500"/>
            <a:chOff x="0" y="0"/>
            <a:chExt cx="3810000" cy="127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193800"/>
                  </a:lnTo>
                  <a:cubicBezTo>
                    <a:pt x="3810000" y="1235884"/>
                    <a:pt x="3775884" y="1270000"/>
                    <a:pt x="3733800" y="1270000"/>
                  </a:cubicBezTo>
                  <a:lnTo>
                    <a:pt x="76200" y="1270000"/>
                  </a:lnTo>
                  <a:cubicBezTo>
                    <a:pt x="34116" y="1270000"/>
                    <a:pt x="0" y="1235884"/>
                    <a:pt x="0" y="1193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ENTREPRISE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001000" y="7334250"/>
            <a:ext cx="952500" cy="0"/>
          </a:xfrm>
          <a:prstGeom prst="line">
            <a:avLst/>
          </a:prstGeom>
          <a:ln cap="rnd" w="28575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144000" y="6858000"/>
            <a:ext cx="2857500" cy="952500"/>
            <a:chOff x="0" y="0"/>
            <a:chExt cx="3810000" cy="127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193800"/>
                  </a:lnTo>
                  <a:cubicBezTo>
                    <a:pt x="3810000" y="1235884"/>
                    <a:pt x="3775884" y="1270000"/>
                    <a:pt x="3733800" y="1270000"/>
                  </a:cubicBezTo>
                  <a:lnTo>
                    <a:pt x="76200" y="1270000"/>
                  </a:lnTo>
                  <a:cubicBezTo>
                    <a:pt x="34116" y="1270000"/>
                    <a:pt x="0" y="1235884"/>
                    <a:pt x="0" y="1193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CONTRAT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2096750" y="7334250"/>
            <a:ext cx="952500" cy="0"/>
          </a:xfrm>
          <a:prstGeom prst="line">
            <a:avLst/>
          </a:prstGeom>
          <a:ln cap="rnd" w="28575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239750" y="6858000"/>
            <a:ext cx="2857500" cy="952500"/>
            <a:chOff x="0" y="0"/>
            <a:chExt cx="3810000" cy="127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193800"/>
                  </a:lnTo>
                  <a:cubicBezTo>
                    <a:pt x="3810000" y="1235884"/>
                    <a:pt x="3775884" y="1270000"/>
                    <a:pt x="3733800" y="1270000"/>
                  </a:cubicBezTo>
                  <a:lnTo>
                    <a:pt x="76200" y="1270000"/>
                  </a:lnTo>
                  <a:cubicBezTo>
                    <a:pt x="34116" y="1270000"/>
                    <a:pt x="0" y="1235884"/>
                    <a:pt x="0" y="1193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9EF3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81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CROISSANCE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0B2B4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  /  IDENTITÉ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B9C8D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2243740"/>
            <a:ext cx="10001250" cy="1491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6"/>
              </a:lnSpc>
            </a:pPr>
            <a:r>
              <a:rPr lang="en-US" sz="555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droit. L’innovation.</a:t>
            </a:r>
          </a:p>
          <a:p>
            <a:pPr algn="l">
              <a:lnSpc>
                <a:spcPts val="5716"/>
              </a:lnSpc>
            </a:pPr>
            <a:r>
              <a:rPr lang="en-US" sz="555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L’Afrique en mouvement.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68000" y="1428750"/>
            <a:ext cx="6477000" cy="6191250"/>
            <a:chOff x="0" y="0"/>
            <a:chExt cx="8636000" cy="825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36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636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858500" y="1619250"/>
            <a:ext cx="6096000" cy="5810250"/>
          </a:xfrm>
          <a:custGeom>
            <a:avLst/>
            <a:gdLst/>
            <a:ahLst/>
            <a:cxnLst/>
            <a:rect r="r" b="b" t="t" l="l"/>
            <a:pathLst>
              <a:path h="5810250" w="6096000">
                <a:moveTo>
                  <a:pt x="0" y="0"/>
                </a:moveTo>
                <a:lnTo>
                  <a:pt x="6096000" y="0"/>
                </a:lnTo>
                <a:lnTo>
                  <a:pt x="609600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22" t="0" r="-34722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953750" y="1619250"/>
            <a:ext cx="6023342" cy="8018574"/>
          </a:xfrm>
          <a:custGeom>
            <a:avLst/>
            <a:gdLst/>
            <a:ahLst/>
            <a:cxnLst/>
            <a:rect r="r" b="b" t="t" l="l"/>
            <a:pathLst>
              <a:path h="8018574" w="6023342">
                <a:moveTo>
                  <a:pt x="0" y="0"/>
                </a:moveTo>
                <a:lnTo>
                  <a:pt x="6023342" y="0"/>
                </a:lnTo>
                <a:lnTo>
                  <a:pt x="6023342" y="8018574"/>
                </a:lnTo>
                <a:lnTo>
                  <a:pt x="0" y="8018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50685" y="4168031"/>
            <a:ext cx="8690379" cy="1893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sz="3727">
                <a:solidFill>
                  <a:srgbClr val="6F8597"/>
                </a:solidFill>
                <a:latin typeface="DM Sans"/>
                <a:ea typeface="DM Sans"/>
                <a:cs typeface="DM Sans"/>
                <a:sym typeface="DM Sans"/>
              </a:rPr>
              <a:t>ADN Consulting SAS, cabinet juridique ivoirien fondé en 2017 par Ange Désirée Nioulé.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6871335"/>
            <a:ext cx="809625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264" b="true">
                <a:solidFill>
                  <a:srgbClr val="0B2B4B"/>
                </a:solidFill>
                <a:latin typeface="DM Sans Bold"/>
                <a:ea typeface="DM Sans Bold"/>
                <a:cs typeface="DM Sans Bold"/>
                <a:sym typeface="DM Sans Bold"/>
              </a:rPr>
              <a:t>DROIT DES AFFAIRES  •  PROPRIÉTÉ INTELLECTUELLE</a:t>
            </a:r>
          </a:p>
          <a:p>
            <a:pPr algn="l">
              <a:lnSpc>
                <a:spcPts val="2310"/>
              </a:lnSpc>
            </a:pPr>
            <a:r>
              <a:rPr lang="en-US" sz="1650" spc="264" b="true">
                <a:solidFill>
                  <a:srgbClr val="0B2B4B"/>
                </a:solidFill>
                <a:latin typeface="DM Sans Bold"/>
                <a:ea typeface="DM Sans Bold"/>
                <a:cs typeface="DM Sans Bold"/>
                <a:sym typeface="DM Sans Bold"/>
              </a:rPr>
              <a:t>DROIT DU NUMÉRIQUE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8915400"/>
            <a:ext cx="1619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300" b="true">
                <a:solidFill>
                  <a:srgbClr val="0B2B4B"/>
                </a:solidFill>
                <a:latin typeface="DM Sans Bold"/>
                <a:ea typeface="DM Sans Bold"/>
                <a:cs typeface="DM Sans Bold"/>
                <a:sym typeface="DM Sans Bold"/>
              </a:rPr>
              <a:t>2017   —————   2023   —————   2024   —————   2025/26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21C7D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  /  TRAJECTOIRE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21C7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52500" y="1524000"/>
            <a:ext cx="14951837" cy="167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27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D’une expertise locale</a:t>
            </a:r>
          </a:p>
          <a:p>
            <a:pPr algn="l">
              <a:lnSpc>
                <a:spcPts val="6467"/>
              </a:lnSpc>
            </a:pPr>
            <a:r>
              <a:rPr lang="en-US" sz="627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à une ambition continentale.</a:t>
            </a:r>
          </a:p>
        </p:txBody>
      </p:sp>
      <p:sp>
        <p:nvSpPr>
          <p:cNvPr name="AutoShape 6" id="6"/>
          <p:cNvSpPr/>
          <p:nvPr/>
        </p:nvSpPr>
        <p:spPr>
          <a:xfrm>
            <a:off x="1428750" y="6191250"/>
            <a:ext cx="15430500" cy="0"/>
          </a:xfrm>
          <a:prstGeom prst="line">
            <a:avLst/>
          </a:prstGeom>
          <a:ln cap="flat" w="3810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238250" y="6000750"/>
            <a:ext cx="381000" cy="381000"/>
            <a:chOff x="0" y="0"/>
            <a:chExt cx="508000" cy="50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381625" y="6000750"/>
            <a:ext cx="381000" cy="381000"/>
            <a:chOff x="0" y="0"/>
            <a:chExt cx="508000" cy="50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0" y="6000750"/>
            <a:ext cx="381000" cy="381000"/>
            <a:chOff x="0" y="0"/>
            <a:chExt cx="508000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668375" y="6000750"/>
            <a:ext cx="381000" cy="381000"/>
            <a:chOff x="0" y="0"/>
            <a:chExt cx="508000" cy="50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394280" y="0"/>
                    <a:pt x="508000" y="113720"/>
                    <a:pt x="508000" y="254000"/>
                  </a:cubicBezTo>
                  <a:cubicBezTo>
                    <a:pt x="508000" y="394280"/>
                    <a:pt x="394280" y="508000"/>
                    <a:pt x="254000" y="508000"/>
                  </a:cubicBezTo>
                  <a:cubicBezTo>
                    <a:pt x="113720" y="508000"/>
                    <a:pt x="0" y="394280"/>
                    <a:pt x="0" y="254000"/>
                  </a:cubicBez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B9EF3B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47750" y="5153025"/>
            <a:ext cx="3333750" cy="44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2017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750" y="6638925"/>
            <a:ext cx="333375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Création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d’ADN Consulting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91125" y="5153025"/>
            <a:ext cx="3333750" cy="44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91125" y="6638925"/>
            <a:ext cx="333375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Lancement de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ContratChap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34500" y="5153025"/>
            <a:ext cx="3333750" cy="44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34500" y="6638925"/>
            <a:ext cx="333375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Déploiement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pays OHADA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77875" y="5153025"/>
            <a:ext cx="3333750" cy="44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00" b="true">
                <a:solidFill>
                  <a:srgbClr val="B9EF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2025–26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77875" y="6638925"/>
            <a:ext cx="333375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Expansion &amp;</a:t>
            </a:r>
          </a:p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développement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0B2B4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  /  LE DÉFI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B9C8D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061429"/>
            <a:ext cx="13335000" cy="69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droit reste difficilement accessible.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70500"/>
            <a:ext cx="15303287" cy="49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sz="3013">
                <a:solidFill>
                  <a:srgbClr val="6F8597"/>
                </a:solidFill>
                <a:latin typeface="DM Sans"/>
                <a:ea typeface="DM Sans"/>
                <a:cs typeface="DM Sans"/>
                <a:sym typeface="DM Sans"/>
              </a:rPr>
              <a:t>Coûts élevés • expertise limitée • contrats peu fiables • accompagnement fragmenté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4953000"/>
            <a:ext cx="4953000" cy="2571750"/>
            <a:chOff x="0" y="0"/>
            <a:chExt cx="6604000" cy="3429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604000" cy="3429000"/>
              <a:chOff x="0" y="0"/>
              <a:chExt cx="6604000" cy="3429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604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604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81000" y="593725"/>
              <a:ext cx="6096000" cy="100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62"/>
                </a:lnSpc>
              </a:pPr>
              <a:r>
                <a:rPr lang="en-US" sz="5400" b="true">
                  <a:solidFill>
                    <a:srgbClr val="0B2B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50%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81000" y="1885950"/>
              <a:ext cx="5461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6F8597"/>
                  </a:solidFill>
                  <a:latin typeface="DM Sans"/>
                  <a:ea typeface="DM Sans"/>
                  <a:cs typeface="DM Sans"/>
                  <a:sym typeface="DM Sans"/>
                </a:rPr>
                <a:t>des entreprises ne dépassent pas 3 ans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77000" y="4953000"/>
            <a:ext cx="4953000" cy="2571750"/>
            <a:chOff x="0" y="0"/>
            <a:chExt cx="6604000" cy="3429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04000" cy="3429000"/>
              <a:chOff x="0" y="0"/>
              <a:chExt cx="6604000" cy="3429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04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604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81000" y="593725"/>
              <a:ext cx="6096000" cy="100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62"/>
                </a:lnSpc>
              </a:pPr>
              <a:r>
                <a:rPr lang="en-US" sz="5400" b="true">
                  <a:solidFill>
                    <a:srgbClr val="13176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18 945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1000" y="1885950"/>
              <a:ext cx="5461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31765"/>
                  </a:solidFill>
                  <a:latin typeface="DM Sans"/>
                  <a:ea typeface="DM Sans"/>
                  <a:cs typeface="DM Sans"/>
                  <a:sym typeface="DM Sans"/>
                </a:rPr>
                <a:t>créations d’entreprises — CEPICI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06250" y="4953000"/>
            <a:ext cx="4953000" cy="2571750"/>
            <a:chOff x="0" y="0"/>
            <a:chExt cx="6604000" cy="3429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604000" cy="3429000"/>
              <a:chOff x="0" y="0"/>
              <a:chExt cx="6604000" cy="3429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04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3176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604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81000" y="593725"/>
              <a:ext cx="6096000" cy="100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62"/>
                </a:lnSpc>
              </a:pPr>
              <a:r>
                <a:rPr lang="en-US" sz="5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5 000+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81000" y="1885950"/>
              <a:ext cx="5461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3F7F8"/>
                  </a:solidFill>
                  <a:latin typeface="DM Sans"/>
                  <a:ea typeface="DM Sans"/>
                  <a:cs typeface="DM Sans"/>
                  <a:sym typeface="DM Sans"/>
                </a:rPr>
                <a:t>litiges — Tribunal de commerce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52500" y="8782050"/>
            <a:ext cx="16192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76" b="true">
                <a:solidFill>
                  <a:srgbClr val="0B2B4B"/>
                </a:solidFill>
                <a:latin typeface="DM Sans Bold"/>
                <a:ea typeface="DM Sans Bold"/>
                <a:cs typeface="DM Sans Bold"/>
                <a:sym typeface="DM Sans Bold"/>
              </a:rPr>
              <a:t>ENTREPRENEUR   →   BESOIN JURIDIQUE   →   BARRIÈRES   →   SOLUTION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21C7D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  /  NOTRE RÉPONSE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21C7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2000250" y="2439274"/>
            <a:ext cx="15103624" cy="197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742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Rendre la sécurité juridique</a:t>
            </a:r>
          </a:p>
          <a:p>
            <a:pPr algn="l">
              <a:lnSpc>
                <a:spcPts val="7643"/>
              </a:lnSpc>
            </a:pPr>
            <a:r>
              <a:rPr lang="en-US" sz="742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plus accessible.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000250" y="6191250"/>
            <a:ext cx="2857500" cy="1428750"/>
            <a:chOff x="0" y="0"/>
            <a:chExt cx="3810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EXPERTISE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JURIDIQUE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4857750" y="6905625"/>
            <a:ext cx="1143000" cy="0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000750" y="6191250"/>
            <a:ext cx="2857500" cy="1428750"/>
            <a:chOff x="0" y="0"/>
            <a:chExt cx="38100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9EF3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ACCESSIBILITÉ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858250" y="6905625"/>
            <a:ext cx="1143000" cy="0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001250" y="6191250"/>
            <a:ext cx="2857500" cy="1428750"/>
            <a:chOff x="0" y="0"/>
            <a:chExt cx="3810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DIGITAL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2858750" y="6905625"/>
            <a:ext cx="1143000" cy="0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4001750" y="6191250"/>
            <a:ext cx="2857500" cy="1428750"/>
            <a:chOff x="0" y="0"/>
            <a:chExt cx="3810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81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PROXIMITÉ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0B2B4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  /  EXPERTISES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B9C8D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91764" y="3702939"/>
            <a:ext cx="7239000" cy="144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4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Six expertises.</a:t>
            </a:r>
          </a:p>
          <a:p>
            <a:pPr algn="l">
              <a:lnSpc>
                <a:spcPts val="5562"/>
              </a:lnSpc>
            </a:pPr>
            <a:r>
              <a:rPr lang="en-US" sz="54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 seul partenaire.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0" y="1714500"/>
            <a:ext cx="2476500" cy="2476500"/>
            <a:chOff x="0" y="0"/>
            <a:chExt cx="3302000" cy="330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3214077"/>
                  </a:lnTo>
                  <a:cubicBezTo>
                    <a:pt x="3302000" y="3237396"/>
                    <a:pt x="3292737" y="3259759"/>
                    <a:pt x="3276248" y="3276248"/>
                  </a:cubicBezTo>
                  <a:cubicBezTo>
                    <a:pt x="3259759" y="3292737"/>
                    <a:pt x="3237396" y="3302000"/>
                    <a:pt x="3214077" y="3302000"/>
                  </a:cubicBezTo>
                  <a:lnTo>
                    <a:pt x="87923" y="3302000"/>
                  </a:lnTo>
                  <a:cubicBezTo>
                    <a:pt x="64604" y="3302000"/>
                    <a:pt x="42241" y="3292737"/>
                    <a:pt x="25752" y="3276248"/>
                  </a:cubicBezTo>
                  <a:cubicBezTo>
                    <a:pt x="9263" y="3259759"/>
                    <a:pt x="0" y="3237396"/>
                    <a:pt x="0" y="3214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2C255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DROIT DES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AFFAIRES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82050" y="1924050"/>
            <a:ext cx="400050" cy="57150"/>
            <a:chOff x="0" y="0"/>
            <a:chExt cx="533400" cy="76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76200"/>
            </a:xfrm>
            <a:custGeom>
              <a:avLst/>
              <a:gdLst/>
              <a:ahLst/>
              <a:cxnLst/>
              <a:rect r="r" b="b" t="t" l="l"/>
              <a:pathLst>
                <a:path h="762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33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0" y="1714500"/>
            <a:ext cx="2476500" cy="2476500"/>
            <a:chOff x="0" y="0"/>
            <a:chExt cx="3302000" cy="330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3214077"/>
                  </a:lnTo>
                  <a:cubicBezTo>
                    <a:pt x="3302000" y="3237396"/>
                    <a:pt x="3292737" y="3259759"/>
                    <a:pt x="3276248" y="3276248"/>
                  </a:cubicBezTo>
                  <a:cubicBezTo>
                    <a:pt x="3259759" y="3292737"/>
                    <a:pt x="3237396" y="3302000"/>
                    <a:pt x="3214077" y="3302000"/>
                  </a:cubicBezTo>
                  <a:lnTo>
                    <a:pt x="87923" y="3302000"/>
                  </a:lnTo>
                  <a:cubicBezTo>
                    <a:pt x="64604" y="3302000"/>
                    <a:pt x="42241" y="3292737"/>
                    <a:pt x="25752" y="3276248"/>
                  </a:cubicBezTo>
                  <a:cubicBezTo>
                    <a:pt x="9263" y="3259759"/>
                    <a:pt x="0" y="3237396"/>
                    <a:pt x="0" y="3214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B9C8D1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PROPRIÉTÉ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INTELLECTUELLE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39550" y="1924050"/>
            <a:ext cx="400050" cy="57150"/>
            <a:chOff x="0" y="0"/>
            <a:chExt cx="5334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3400" cy="76200"/>
            </a:xfrm>
            <a:custGeom>
              <a:avLst/>
              <a:gdLst/>
              <a:ahLst/>
              <a:cxnLst/>
              <a:rect r="r" b="b" t="t" l="l"/>
              <a:pathLst>
                <a:path h="762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33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87500" y="1714500"/>
            <a:ext cx="2476500" cy="2476500"/>
            <a:chOff x="0" y="0"/>
            <a:chExt cx="3302000" cy="330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3214077"/>
                  </a:lnTo>
                  <a:cubicBezTo>
                    <a:pt x="3302000" y="3237396"/>
                    <a:pt x="3292737" y="3259759"/>
                    <a:pt x="3276248" y="3276248"/>
                  </a:cubicBezTo>
                  <a:cubicBezTo>
                    <a:pt x="3259759" y="3292737"/>
                    <a:pt x="3237396" y="3302000"/>
                    <a:pt x="3214077" y="3302000"/>
                  </a:cubicBezTo>
                  <a:lnTo>
                    <a:pt x="87923" y="3302000"/>
                  </a:lnTo>
                  <a:cubicBezTo>
                    <a:pt x="64604" y="3302000"/>
                    <a:pt x="42241" y="3292737"/>
                    <a:pt x="25752" y="3276248"/>
                  </a:cubicBezTo>
                  <a:cubicBezTo>
                    <a:pt x="9263" y="3259759"/>
                    <a:pt x="0" y="3237396"/>
                    <a:pt x="0" y="3214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8C5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DROIT DU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NUMÉRIQUE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97050" y="1924050"/>
            <a:ext cx="400050" cy="57150"/>
            <a:chOff x="0" y="0"/>
            <a:chExt cx="533400" cy="76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400" cy="76200"/>
            </a:xfrm>
            <a:custGeom>
              <a:avLst/>
              <a:gdLst/>
              <a:ahLst/>
              <a:cxnLst/>
              <a:rect r="r" b="b" t="t" l="l"/>
              <a:pathLst>
                <a:path h="762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9EF3B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33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72500" y="5143500"/>
            <a:ext cx="2476500" cy="2476500"/>
            <a:chOff x="0" y="0"/>
            <a:chExt cx="3302000" cy="330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3214077"/>
                  </a:lnTo>
                  <a:cubicBezTo>
                    <a:pt x="3302000" y="3237396"/>
                    <a:pt x="3292737" y="3259759"/>
                    <a:pt x="3276248" y="3276248"/>
                  </a:cubicBezTo>
                  <a:cubicBezTo>
                    <a:pt x="3259759" y="3292737"/>
                    <a:pt x="3237396" y="3302000"/>
                    <a:pt x="3214077" y="3302000"/>
                  </a:cubicBezTo>
                  <a:lnTo>
                    <a:pt x="87923" y="3302000"/>
                  </a:lnTo>
                  <a:cubicBezTo>
                    <a:pt x="64604" y="3302000"/>
                    <a:pt x="42241" y="3292737"/>
                    <a:pt x="25752" y="3276248"/>
                  </a:cubicBezTo>
                  <a:cubicBezTo>
                    <a:pt x="9263" y="3259759"/>
                    <a:pt x="0" y="3237396"/>
                    <a:pt x="0" y="3214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0D146E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CONSEIL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JURIDIQUE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82050" y="5353050"/>
            <a:ext cx="400050" cy="57150"/>
            <a:chOff x="0" y="0"/>
            <a:chExt cx="533400" cy="7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3400" cy="76200"/>
            </a:xfrm>
            <a:custGeom>
              <a:avLst/>
              <a:gdLst/>
              <a:ahLst/>
              <a:cxnLst/>
              <a:rect r="r" b="b" t="t" l="l"/>
              <a:pathLst>
                <a:path h="762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33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30000" y="5143500"/>
            <a:ext cx="2476500" cy="2476500"/>
            <a:chOff x="0" y="0"/>
            <a:chExt cx="3302000" cy="3302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3214077"/>
                  </a:lnTo>
                  <a:cubicBezTo>
                    <a:pt x="3302000" y="3237396"/>
                    <a:pt x="3292737" y="3259759"/>
                    <a:pt x="3276248" y="3276248"/>
                  </a:cubicBezTo>
                  <a:cubicBezTo>
                    <a:pt x="3259759" y="3292737"/>
                    <a:pt x="3237396" y="3302000"/>
                    <a:pt x="3214077" y="3302000"/>
                  </a:cubicBezTo>
                  <a:lnTo>
                    <a:pt x="87923" y="3302000"/>
                  </a:lnTo>
                  <a:cubicBezTo>
                    <a:pt x="64604" y="3302000"/>
                    <a:pt x="42241" y="3292737"/>
                    <a:pt x="25752" y="3276248"/>
                  </a:cubicBezTo>
                  <a:cubicBezTo>
                    <a:pt x="9263" y="3259759"/>
                    <a:pt x="0" y="3237396"/>
                    <a:pt x="0" y="3214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B9EF3B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CONTRATS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39550" y="5353050"/>
            <a:ext cx="400050" cy="57150"/>
            <a:chOff x="0" y="0"/>
            <a:chExt cx="533400" cy="76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3400" cy="76200"/>
            </a:xfrm>
            <a:custGeom>
              <a:avLst/>
              <a:gdLst/>
              <a:ahLst/>
              <a:cxnLst/>
              <a:rect r="r" b="b" t="t" l="l"/>
              <a:pathLst>
                <a:path h="762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33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287500" y="5143500"/>
            <a:ext cx="2476500" cy="2476500"/>
            <a:chOff x="0" y="0"/>
            <a:chExt cx="3302000" cy="330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0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3214077"/>
                  </a:lnTo>
                  <a:cubicBezTo>
                    <a:pt x="3302000" y="3237396"/>
                    <a:pt x="3292737" y="3259759"/>
                    <a:pt x="3276248" y="3276248"/>
                  </a:cubicBezTo>
                  <a:cubicBezTo>
                    <a:pt x="3259759" y="3292737"/>
                    <a:pt x="3237396" y="3302000"/>
                    <a:pt x="3214077" y="3302000"/>
                  </a:cubicBezTo>
                  <a:lnTo>
                    <a:pt x="87923" y="3302000"/>
                  </a:lnTo>
                  <a:cubicBezTo>
                    <a:pt x="64604" y="3302000"/>
                    <a:pt x="42241" y="3292737"/>
                    <a:pt x="25752" y="3276248"/>
                  </a:cubicBezTo>
                  <a:cubicBezTo>
                    <a:pt x="9263" y="3259759"/>
                    <a:pt x="0" y="3237396"/>
                    <a:pt x="0" y="3214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2E2B5F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ACCOMPAGNEMENT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DES ENTREPRISES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497050" y="5353050"/>
            <a:ext cx="400050" cy="57150"/>
            <a:chOff x="0" y="0"/>
            <a:chExt cx="533400" cy="76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3400" cy="76200"/>
            </a:xfrm>
            <a:custGeom>
              <a:avLst/>
              <a:gdLst/>
              <a:ahLst/>
              <a:cxnLst/>
              <a:rect r="r" b="b" t="t" l="l"/>
              <a:pathLst>
                <a:path h="762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334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21C7D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  /  UNE MÊME AMBITION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21C7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28750" y="2476500"/>
            <a:ext cx="5905500" cy="163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4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ADN</a:t>
            </a:r>
          </a:p>
          <a:p>
            <a:pPr algn="l">
              <a:lnSpc>
                <a:spcPts val="6334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CONSULTING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4248150"/>
            <a:ext cx="5143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Expertise &amp; accompagnement juridique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34750" y="2476500"/>
            <a:ext cx="5524500" cy="163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4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CONTRAT</a:t>
            </a:r>
          </a:p>
          <a:p>
            <a:pPr algn="l">
              <a:lnSpc>
                <a:spcPts val="6334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75838" y="4174830"/>
            <a:ext cx="4814256" cy="33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2041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Digitalisation &amp; accessibilité</a:t>
            </a:r>
          </a:p>
        </p:txBody>
      </p:sp>
      <p:sp>
        <p:nvSpPr>
          <p:cNvPr name="AutoShape 9" id="9"/>
          <p:cNvSpPr/>
          <p:nvPr/>
        </p:nvSpPr>
        <p:spPr>
          <a:xfrm>
            <a:off x="7239000" y="4286250"/>
            <a:ext cx="3810000" cy="0"/>
          </a:xfrm>
          <a:prstGeom prst="line">
            <a:avLst/>
          </a:prstGeom>
          <a:ln cap="rnd" w="47625">
            <a:solidFill>
              <a:srgbClr val="B9EF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905500" y="6668692"/>
            <a:ext cx="6477000" cy="2095500"/>
            <a:chOff x="0" y="0"/>
            <a:chExt cx="8636000" cy="2794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636000" cy="2794000"/>
              <a:chOff x="0" y="0"/>
              <a:chExt cx="8636000" cy="2794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636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86360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B9EF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8636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81000" y="908304"/>
              <a:ext cx="7874000" cy="1025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5"/>
                </a:lnSpc>
              </a:pPr>
              <a:r>
                <a:rPr lang="en-US" sz="2850" b="true">
                  <a:solidFill>
                    <a:srgbClr val="09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Rendre le droit plus accessible</a:t>
              </a:r>
            </a:p>
            <a:p>
              <a:pPr algn="ctr">
                <a:lnSpc>
                  <a:spcPts val="2935"/>
                </a:lnSpc>
              </a:pPr>
              <a:r>
                <a:rPr lang="en-US" sz="2850" b="true">
                  <a:solidFill>
                    <a:srgbClr val="09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aux entrepreneurs.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01955"/>
            <a:ext cx="16383000" cy="593407"/>
            <a:chOff x="0" y="0"/>
            <a:chExt cx="21844000" cy="79121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0B2B4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08  /  CONTRATCHAP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784860"/>
              <a:ext cx="21844000" cy="0"/>
            </a:xfrm>
            <a:prstGeom prst="line">
              <a:avLst/>
            </a:prstGeom>
            <a:ln cap="flat" w="12700">
              <a:solidFill>
                <a:srgbClr val="B9C8D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07838" y="2001202"/>
            <a:ext cx="9048750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5"/>
              </a:lnSpc>
            </a:pPr>
            <a:r>
              <a:rPr lang="en-US" sz="45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Votre business juridiquement</a:t>
            </a:r>
          </a:p>
          <a:p>
            <a:pPr algn="l">
              <a:lnSpc>
                <a:spcPts val="4635"/>
              </a:lnSpc>
            </a:pPr>
            <a:r>
              <a:rPr lang="en-US" sz="45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sécurisé en un clic.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7838" y="4521734"/>
            <a:ext cx="9639300" cy="190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3722" b="true">
                <a:solidFill>
                  <a:srgbClr val="131765"/>
                </a:solidFill>
                <a:latin typeface="DM Sans Bold"/>
                <a:ea typeface="DM Sans Bold"/>
                <a:cs typeface="DM Sans Bold"/>
                <a:sym typeface="DM Sans Bold"/>
              </a:rPr>
              <a:t>Contrats OHADA </a:t>
            </a:r>
            <a:r>
              <a:rPr lang="en-US" sz="3722">
                <a:solidFill>
                  <a:srgbClr val="131765"/>
                </a:solidFill>
                <a:latin typeface="DM Sans"/>
                <a:ea typeface="DM Sans"/>
                <a:cs typeface="DM Sans"/>
                <a:sym typeface="DM Sans"/>
              </a:rPr>
              <a:t> •  Sur-mesure</a:t>
            </a:r>
          </a:p>
          <a:p>
            <a:pPr algn="l">
              <a:lnSpc>
                <a:spcPts val="5025"/>
              </a:lnSpc>
            </a:pPr>
            <a:r>
              <a:rPr lang="en-US" sz="3722">
                <a:solidFill>
                  <a:srgbClr val="131765"/>
                </a:solidFill>
                <a:latin typeface="DM Sans"/>
                <a:ea typeface="DM Sans"/>
                <a:cs typeface="DM Sans"/>
                <a:sym typeface="DM Sans"/>
              </a:rPr>
              <a:t>Conseil en ligne  •  Base d’experts</a:t>
            </a:r>
          </a:p>
          <a:p>
            <a:pPr algn="l">
              <a:lnSpc>
                <a:spcPts val="5025"/>
              </a:lnSpc>
            </a:pPr>
            <a:r>
              <a:rPr lang="en-US" sz="3722">
                <a:solidFill>
                  <a:srgbClr val="131765"/>
                </a:solidFill>
                <a:latin typeface="DM Sans"/>
                <a:ea typeface="DM Sans"/>
                <a:cs typeface="DM Sans"/>
                <a:sym typeface="DM Sans"/>
              </a:rPr>
              <a:t>Services juridiques digitalisés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8258175"/>
            <a:ext cx="9715500" cy="29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772" spc="283" b="true">
                <a:solidFill>
                  <a:srgbClr val="0B2B4B"/>
                </a:solidFill>
                <a:latin typeface="DM Sans Bold"/>
                <a:ea typeface="DM Sans Bold"/>
                <a:cs typeface="DM Sans Bold"/>
                <a:sym typeface="DM Sans Bold"/>
              </a:rPr>
              <a:t>SIMPLICITÉ   RAPIDITÉ   SÉCURITÉ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0" y="1333500"/>
            <a:ext cx="6667500" cy="7524750"/>
            <a:chOff x="0" y="0"/>
            <a:chExt cx="8890000" cy="1003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90000" cy="10033000"/>
            </a:xfrm>
            <a:custGeom>
              <a:avLst/>
              <a:gdLst/>
              <a:ahLst/>
              <a:cxnLst/>
              <a:rect r="r" b="b" t="t" l="l"/>
              <a:pathLst>
                <a:path h="10033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10033000"/>
                  </a:lnTo>
                  <a:lnTo>
                    <a:pt x="0" y="10033000"/>
                  </a:ln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890000" cy="1007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8000" y="1809750"/>
            <a:ext cx="5905500" cy="6572250"/>
            <a:chOff x="0" y="0"/>
            <a:chExt cx="7874000" cy="876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740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874000" cy="880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144250" y="2247900"/>
            <a:ext cx="3810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88" b="true">
                <a:solidFill>
                  <a:srgbClr val="0B2B4B"/>
                </a:solidFill>
                <a:latin typeface="DM Sans Bold"/>
                <a:ea typeface="DM Sans Bold"/>
                <a:cs typeface="DM Sans Bold"/>
                <a:sym typeface="DM Sans Bold"/>
              </a:rPr>
              <a:t>CONTRATCHAP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44250" y="3295650"/>
            <a:ext cx="4572000" cy="95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bon contrat.</a:t>
            </a:r>
          </a:p>
          <a:p>
            <a:pPr algn="l">
              <a:lnSpc>
                <a:spcPts val="3708"/>
              </a:lnSpc>
            </a:pPr>
            <a:r>
              <a:rPr lang="en-US" sz="36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 bon moment.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53750" y="5095875"/>
            <a:ext cx="4572000" cy="809625"/>
            <a:chOff x="0" y="0"/>
            <a:chExt cx="6096000" cy="1079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096000" cy="1079500"/>
              <a:chOff x="0" y="0"/>
              <a:chExt cx="6096000" cy="1079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096000" cy="1079500"/>
              </a:xfrm>
              <a:custGeom>
                <a:avLst/>
                <a:gdLst/>
                <a:ahLst/>
                <a:cxnLst/>
                <a:rect r="r" b="b" t="t" l="l"/>
                <a:pathLst>
                  <a:path h="10795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1079500"/>
                    </a:lnTo>
                    <a:lnTo>
                      <a:pt x="0" y="1079500"/>
                    </a:lnTo>
                    <a:close/>
                  </a:path>
                </a:pathLst>
              </a:custGeom>
              <a:solidFill>
                <a:srgbClr val="B9EF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096000" cy="1117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4000" y="342900"/>
              <a:ext cx="5461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40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CRÉER MON CONTRAT  →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44250" y="6858000"/>
            <a:ext cx="4000500" cy="114300"/>
            <a:chOff x="0" y="0"/>
            <a:chExt cx="5334000" cy="15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D8E4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334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44250" y="7239000"/>
            <a:ext cx="3048000" cy="114300"/>
            <a:chOff x="0" y="0"/>
            <a:chExt cx="4064000" cy="152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064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0C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588803" y="1790530"/>
            <a:ext cx="3525905" cy="7467770"/>
            <a:chOff x="0" y="0"/>
            <a:chExt cx="633503" cy="13417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3503" cy="1341742"/>
            </a:xfrm>
            <a:custGeom>
              <a:avLst/>
              <a:gdLst/>
              <a:ahLst/>
              <a:cxnLst/>
              <a:rect r="r" b="b" t="t" l="l"/>
              <a:pathLst>
                <a:path h="1341742" w="633503">
                  <a:moveTo>
                    <a:pt x="114178" y="0"/>
                  </a:moveTo>
                  <a:lnTo>
                    <a:pt x="519325" y="0"/>
                  </a:lnTo>
                  <a:cubicBezTo>
                    <a:pt x="582384" y="0"/>
                    <a:pt x="633503" y="51119"/>
                    <a:pt x="633503" y="114178"/>
                  </a:cubicBezTo>
                  <a:lnTo>
                    <a:pt x="633503" y="1227564"/>
                  </a:lnTo>
                  <a:cubicBezTo>
                    <a:pt x="633503" y="1290622"/>
                    <a:pt x="582384" y="1341742"/>
                    <a:pt x="519325" y="1341742"/>
                  </a:cubicBezTo>
                  <a:lnTo>
                    <a:pt x="114178" y="1341742"/>
                  </a:lnTo>
                  <a:cubicBezTo>
                    <a:pt x="51119" y="1341742"/>
                    <a:pt x="0" y="1290622"/>
                    <a:pt x="0" y="1227564"/>
                  </a:cubicBezTo>
                  <a:lnTo>
                    <a:pt x="0" y="114178"/>
                  </a:lnTo>
                  <a:cubicBezTo>
                    <a:pt x="0" y="51119"/>
                    <a:pt x="51119" y="0"/>
                    <a:pt x="11417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29" r="0" b="-112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380358" y="1577221"/>
            <a:ext cx="3942795" cy="7905353"/>
          </a:xfrm>
          <a:custGeom>
            <a:avLst/>
            <a:gdLst/>
            <a:ahLst/>
            <a:cxnLst/>
            <a:rect r="r" b="b" t="t" l="l"/>
            <a:pathLst>
              <a:path h="7905353" w="3942795">
                <a:moveTo>
                  <a:pt x="0" y="0"/>
                </a:moveTo>
                <a:lnTo>
                  <a:pt x="3942795" y="0"/>
                </a:lnTo>
                <a:lnTo>
                  <a:pt x="3942795" y="7905353"/>
                </a:lnTo>
                <a:lnTo>
                  <a:pt x="0" y="7905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9204151"/>
            <a:ext cx="886597" cy="0"/>
          </a:xfrm>
          <a:prstGeom prst="line">
            <a:avLst/>
          </a:prstGeom>
          <a:ln cap="flat" w="38100">
            <a:solidFill>
              <a:srgbClr val="F2ECE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519729"/>
            <a:ext cx="412996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08</a:t>
            </a:r>
            <a:r>
              <a:rPr lang="en-US" sz="2199" spc="-21">
                <a:solidFill>
                  <a:srgbClr val="F2ECE2"/>
                </a:solidFill>
                <a:latin typeface="Proxima Nova"/>
                <a:ea typeface="Proxima Nova"/>
                <a:cs typeface="Proxima Nova"/>
                <a:sym typeface="Proxima Nova"/>
              </a:rPr>
              <a:t> / CONTRATCHAP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0332" y="2918241"/>
            <a:ext cx="5158557" cy="143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  <a:spcBef>
                <a:spcPct val="0"/>
              </a:spcBef>
            </a:pPr>
            <a:r>
              <a:rPr lang="en-US" sz="1900" i="true" spc="-19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Nous concevons des outils technologiques modernes qui simplifient le quotidien. Chaque solution est pensée pour être intuitive, rapide, et répondre aux besoins réels de nos utilisateurs.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0332" y="5257614"/>
            <a:ext cx="5158557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  <a:spcBef>
                <a:spcPct val="0"/>
              </a:spcBef>
            </a:pPr>
            <a:r>
              <a:rPr lang="en-US" sz="1900" i="true" spc="-19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Notre équipe offre un support personnalisé et des conseils pour assurer une expérience optimale et un succès durable.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0332" y="7592806"/>
            <a:ext cx="5158557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0"/>
              </a:lnSpc>
              <a:spcBef>
                <a:spcPct val="0"/>
              </a:spcBef>
            </a:pPr>
            <a:r>
              <a:rPr lang="en-US" sz="1900" i="true" spc="-19">
                <a:solidFill>
                  <a:srgbClr val="F2ECE2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Notre objectif est de créer un impact positif, aujourd’hui comme demain, en adoptant des pratiques respectueuses et durables.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0332" y="2406133"/>
            <a:ext cx="515855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2ECE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Développer des solutions innovantes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0332" y="4745507"/>
            <a:ext cx="515855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2ECE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Accompagner nos utilisateurs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90332" y="7080699"/>
            <a:ext cx="515855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2ECE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Favoriser un impact durable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-1560807" y="5413765"/>
            <a:ext cx="64375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sz="4800" spc="-240">
                <a:solidFill>
                  <a:srgbClr val="F2ECE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Ce que nous faisons.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21C7D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09  /  TRACTION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21C7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52500" y="1466850"/>
            <a:ext cx="11430000" cy="69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preuve par le mouvement.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3238500"/>
            <a:ext cx="3810000" cy="2095500"/>
            <a:chOff x="0" y="0"/>
            <a:chExt cx="5080000" cy="2794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080000" cy="2794000"/>
              <a:chOff x="0" y="0"/>
              <a:chExt cx="5080000" cy="279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08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B2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508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54000" y="447675"/>
              <a:ext cx="4572000" cy="778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6"/>
                </a:lnSpc>
              </a:pPr>
              <a:r>
                <a:rPr lang="en-US" sz="42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1 000+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54000" y="1441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entreprises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95875" y="3238500"/>
            <a:ext cx="3810000" cy="2095500"/>
            <a:chOff x="0" y="0"/>
            <a:chExt cx="5080000" cy="2794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080000" cy="2794000"/>
              <a:chOff x="0" y="0"/>
              <a:chExt cx="5080000" cy="2794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08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B2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08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54000" y="447675"/>
              <a:ext cx="4572000" cy="778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6"/>
                </a:lnSpc>
              </a:pPr>
              <a:r>
                <a:rPr lang="en-US" sz="42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10+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000" y="1441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pays clients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34500" y="3238500"/>
            <a:ext cx="3810000" cy="2095500"/>
            <a:chOff x="0" y="0"/>
            <a:chExt cx="5080000" cy="2794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080000" cy="2794000"/>
              <a:chOff x="0" y="0"/>
              <a:chExt cx="5080000" cy="2794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08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B2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508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0" y="447675"/>
              <a:ext cx="4572000" cy="778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6"/>
                </a:lnSpc>
              </a:pPr>
              <a:r>
                <a:rPr lang="en-US" sz="42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1 400+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54000" y="1441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documents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73125" y="3238500"/>
            <a:ext cx="3810000" cy="2095500"/>
            <a:chOff x="0" y="0"/>
            <a:chExt cx="5080000" cy="2794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080000" cy="2794000"/>
              <a:chOff x="0" y="0"/>
              <a:chExt cx="5080000" cy="2794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08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B2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508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54000" y="447675"/>
              <a:ext cx="4572000" cy="778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6"/>
                </a:lnSpc>
              </a:pPr>
              <a:r>
                <a:rPr lang="en-US" sz="42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3 000+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54000" y="1441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heures conseil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57250" y="5953125"/>
            <a:ext cx="3810000" cy="2095500"/>
            <a:chOff x="0" y="0"/>
            <a:chExt cx="5080000" cy="2794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5080000" cy="2794000"/>
              <a:chOff x="0" y="0"/>
              <a:chExt cx="5080000" cy="2794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08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B2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508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54000" y="447675"/>
              <a:ext cx="4572000" cy="778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6"/>
                </a:lnSpc>
              </a:pPr>
              <a:r>
                <a:rPr lang="en-US" sz="4200" b="true">
                  <a:solidFill>
                    <a:srgbClr val="B9EF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 7 000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54000" y="1441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utilisateurs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095875" y="5953125"/>
            <a:ext cx="3810000" cy="2095500"/>
            <a:chOff x="0" y="0"/>
            <a:chExt cx="5080000" cy="2794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5080000" cy="2794000"/>
              <a:chOff x="0" y="0"/>
              <a:chExt cx="5080000" cy="2794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08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B2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508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54000" y="447675"/>
              <a:ext cx="4572000" cy="778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6"/>
                </a:lnSpc>
              </a:pPr>
              <a:r>
                <a:rPr lang="en-US" sz="42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54000" y="1441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filiales en projet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34500" y="5953125"/>
            <a:ext cx="3810000" cy="2095500"/>
            <a:chOff x="0" y="0"/>
            <a:chExt cx="5080000" cy="27940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5080000" cy="2794000"/>
              <a:chOff x="0" y="0"/>
              <a:chExt cx="5080000" cy="2794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508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B2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508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254000" y="447675"/>
              <a:ext cx="4572000" cy="778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6"/>
                </a:lnSpc>
              </a:pPr>
              <a:r>
                <a:rPr lang="en-US" sz="42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75%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54000" y="1441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insertion PIJI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73125" y="5953125"/>
            <a:ext cx="3810000" cy="2095500"/>
            <a:chOff x="0" y="0"/>
            <a:chExt cx="5080000" cy="27940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5080000" cy="2794000"/>
              <a:chOff x="0" y="0"/>
              <a:chExt cx="5080000" cy="27940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508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B2B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508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254000" y="447675"/>
              <a:ext cx="4572000" cy="778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6"/>
                </a:lnSpc>
              </a:pPr>
              <a:r>
                <a:rPr lang="en-US" sz="42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200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54000" y="1441450"/>
              <a:ext cx="4191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juristes / 2030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0B2B4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  /  EXPÉRIENCE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B9C8D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231461"/>
            <a:ext cx="7237774" cy="214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4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Depuis 2017,</a:t>
            </a:r>
          </a:p>
          <a:p>
            <a:pPr algn="l">
              <a:lnSpc>
                <a:spcPts val="5562"/>
              </a:lnSpc>
            </a:pPr>
            <a:r>
              <a:rPr lang="en-US" sz="5400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confiance se mesure.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0" y="2333625"/>
            <a:ext cx="6715125" cy="1278731"/>
            <a:chOff x="0" y="0"/>
            <a:chExt cx="8953500" cy="17049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5250"/>
              <a:ext cx="8890000" cy="1178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89"/>
                </a:lnSpc>
              </a:pPr>
              <a:r>
                <a:rPr lang="en-US" sz="6300" b="true">
                  <a:solidFill>
                    <a:srgbClr val="0B2B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1 000+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3500" y="1304925"/>
              <a:ext cx="889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F8597"/>
                  </a:solidFill>
                  <a:latin typeface="DM Sans"/>
                  <a:ea typeface="DM Sans"/>
                  <a:cs typeface="DM Sans"/>
                  <a:sym typeface="DM Sans"/>
                </a:rPr>
                <a:t>entreprises accompagnées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0" y="4476750"/>
            <a:ext cx="6715125" cy="1278731"/>
            <a:chOff x="0" y="0"/>
            <a:chExt cx="8953500" cy="170497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0"/>
              <a:ext cx="8890000" cy="1178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89"/>
                </a:lnSpc>
              </a:pPr>
              <a:r>
                <a:rPr lang="en-US" sz="63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1 400+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3500" y="1304925"/>
              <a:ext cx="889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F8597"/>
                  </a:solidFill>
                  <a:latin typeface="DM Sans"/>
                  <a:ea typeface="DM Sans"/>
                  <a:cs typeface="DM Sans"/>
                  <a:sym typeface="DM Sans"/>
                </a:rPr>
                <a:t>documents rédigés / revus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72500" y="6619875"/>
            <a:ext cx="6715125" cy="1278731"/>
            <a:chOff x="0" y="0"/>
            <a:chExt cx="8953500" cy="17049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0"/>
              <a:ext cx="8890000" cy="1178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89"/>
                </a:lnSpc>
              </a:pPr>
              <a:r>
                <a:rPr lang="en-US" sz="6300" b="true">
                  <a:solidFill>
                    <a:srgbClr val="0B2B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3 000+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3500" y="1304925"/>
              <a:ext cx="8890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6F8597"/>
                  </a:solidFill>
                  <a:latin typeface="DM Sans"/>
                  <a:ea typeface="DM Sans"/>
                  <a:cs typeface="DM Sans"/>
                  <a:sym typeface="DM Sans"/>
                </a:rPr>
                <a:t>heures de consultation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6667500"/>
            <a:ext cx="5334000" cy="1619250"/>
            <a:chOff x="0" y="0"/>
            <a:chExt cx="7112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1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12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81125" y="7096125"/>
            <a:ext cx="447675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spc="408" b="true">
                <a:solidFill>
                  <a:srgbClr val="B9EF3B"/>
                </a:solidFill>
                <a:latin typeface="DM Sans Bold"/>
                <a:ea typeface="DM Sans Bold"/>
                <a:cs typeface="DM Sans Bold"/>
                <a:sym typeface="DM Sans Bold"/>
              </a:rPr>
              <a:t>FONDÉ EN 2017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21C7D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  /  ÉCOSYSTÈME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21C7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52500" y="1514475"/>
            <a:ext cx="8572500" cy="144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Connecter le droit</a:t>
            </a:r>
          </a:p>
          <a:p>
            <a:pPr algn="l">
              <a:lnSpc>
                <a:spcPts val="5562"/>
              </a:lnSpc>
            </a:pPr>
            <a:r>
              <a:rPr lang="en-US" sz="5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à l’économie réelle.</a:t>
            </a:r>
          </a:p>
        </p:txBody>
      </p:sp>
      <p:sp>
        <p:nvSpPr>
          <p:cNvPr name="AutoShape 6" id="6"/>
          <p:cNvSpPr/>
          <p:nvPr/>
        </p:nvSpPr>
        <p:spPr>
          <a:xfrm flipH="true" flipV="true">
            <a:off x="4381500" y="3667125"/>
            <a:ext cx="4762500" cy="1476375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952750" y="3143250"/>
            <a:ext cx="2857500" cy="1047750"/>
            <a:chOff x="0" y="0"/>
            <a:chExt cx="3810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320800"/>
                  </a:lnTo>
                  <a:cubicBezTo>
                    <a:pt x="3810000" y="1362884"/>
                    <a:pt x="3775884" y="1397000"/>
                    <a:pt x="3733800" y="1397000"/>
                  </a:cubicBezTo>
                  <a:lnTo>
                    <a:pt x="76200" y="1397000"/>
                  </a:lnTo>
                  <a:cubicBezTo>
                    <a:pt x="34116" y="1397000"/>
                    <a:pt x="0" y="1362884"/>
                    <a:pt x="0" y="1320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ENTREPRENEURS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4381500" y="5143500"/>
            <a:ext cx="4762500" cy="1571625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952750" y="6191250"/>
            <a:ext cx="2857500" cy="1047750"/>
            <a:chOff x="0" y="0"/>
            <a:chExt cx="3810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320800"/>
                  </a:lnTo>
                  <a:cubicBezTo>
                    <a:pt x="3810000" y="1362884"/>
                    <a:pt x="3775884" y="1397000"/>
                    <a:pt x="3733800" y="1397000"/>
                  </a:cubicBezTo>
                  <a:lnTo>
                    <a:pt x="76200" y="1397000"/>
                  </a:lnTo>
                  <a:cubicBezTo>
                    <a:pt x="34116" y="1397000"/>
                    <a:pt x="0" y="1362884"/>
                    <a:pt x="0" y="1320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PME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44000" y="5143500"/>
            <a:ext cx="0" cy="2619375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715250" y="7239000"/>
            <a:ext cx="2857500" cy="1047750"/>
            <a:chOff x="0" y="0"/>
            <a:chExt cx="3810000" cy="139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320800"/>
                  </a:lnTo>
                  <a:cubicBezTo>
                    <a:pt x="3810000" y="1362884"/>
                    <a:pt x="3775884" y="1397000"/>
                    <a:pt x="3733800" y="1397000"/>
                  </a:cubicBezTo>
                  <a:lnTo>
                    <a:pt x="76200" y="1397000"/>
                  </a:lnTo>
                  <a:cubicBezTo>
                    <a:pt x="34116" y="1397000"/>
                    <a:pt x="0" y="1362884"/>
                    <a:pt x="0" y="1320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STARTUPS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9144000" y="5143500"/>
            <a:ext cx="4762500" cy="1571625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2477750" y="6191250"/>
            <a:ext cx="2857500" cy="1047750"/>
            <a:chOff x="0" y="0"/>
            <a:chExt cx="381000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320800"/>
                  </a:lnTo>
                  <a:cubicBezTo>
                    <a:pt x="3810000" y="1362884"/>
                    <a:pt x="3775884" y="1397000"/>
                    <a:pt x="3733800" y="1397000"/>
                  </a:cubicBezTo>
                  <a:lnTo>
                    <a:pt x="76200" y="1397000"/>
                  </a:lnTo>
                  <a:cubicBezTo>
                    <a:pt x="34116" y="1397000"/>
                    <a:pt x="0" y="1362884"/>
                    <a:pt x="0" y="1320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EXPERTS DU DROIT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9144000" y="3667125"/>
            <a:ext cx="4762500" cy="1476375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2477750" y="3143250"/>
            <a:ext cx="2857500" cy="1047750"/>
            <a:chOff x="0" y="0"/>
            <a:chExt cx="3810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320800"/>
                  </a:lnTo>
                  <a:cubicBezTo>
                    <a:pt x="3810000" y="1362884"/>
                    <a:pt x="3775884" y="1397000"/>
                    <a:pt x="3733800" y="1397000"/>
                  </a:cubicBezTo>
                  <a:lnTo>
                    <a:pt x="76200" y="1397000"/>
                  </a:lnTo>
                  <a:cubicBezTo>
                    <a:pt x="34116" y="1397000"/>
                    <a:pt x="0" y="1362884"/>
                    <a:pt x="0" y="1320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PARTENAIRES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9144000" y="2047875"/>
            <a:ext cx="0" cy="3095625"/>
          </a:xfrm>
          <a:prstGeom prst="line">
            <a:avLst/>
          </a:prstGeom>
          <a:ln cap="flat" w="19050">
            <a:solidFill>
              <a:srgbClr val="21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7715250" y="4095750"/>
            <a:ext cx="2857500" cy="2095500"/>
            <a:chOff x="0" y="0"/>
            <a:chExt cx="3810000" cy="279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717800"/>
                  </a:lnTo>
                  <a:cubicBezTo>
                    <a:pt x="3810000" y="2759884"/>
                    <a:pt x="3775884" y="2794000"/>
                    <a:pt x="3733800" y="2794000"/>
                  </a:cubicBezTo>
                  <a:lnTo>
                    <a:pt x="76200" y="2794000"/>
                  </a:lnTo>
                  <a:cubicBezTo>
                    <a:pt x="34116" y="2794000"/>
                    <a:pt x="0" y="2759884"/>
                    <a:pt x="0" y="271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9EF3B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810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15250" y="1524000"/>
            <a:ext cx="2857500" cy="1047750"/>
            <a:chOff x="0" y="0"/>
            <a:chExt cx="38100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320800"/>
                  </a:lnTo>
                  <a:cubicBezTo>
                    <a:pt x="3810000" y="1362884"/>
                    <a:pt x="3775884" y="1397000"/>
                    <a:pt x="3733800" y="1397000"/>
                  </a:cubicBezTo>
                  <a:lnTo>
                    <a:pt x="76200" y="1397000"/>
                  </a:lnTo>
                  <a:cubicBezTo>
                    <a:pt x="34116" y="1397000"/>
                    <a:pt x="0" y="1362884"/>
                    <a:pt x="0" y="1320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B2B4B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810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INNOVATION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426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21C7D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12  /  IMPACT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21C7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52500" y="1752600"/>
            <a:ext cx="9525000" cy="156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5"/>
              </a:lnSpc>
            </a:pPr>
            <a:r>
              <a:rPr lang="en-US" sz="5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droit comme</a:t>
            </a:r>
          </a:p>
          <a:p>
            <a:pPr algn="l">
              <a:lnSpc>
                <a:spcPts val="6025"/>
              </a:lnSpc>
            </a:pPr>
            <a:r>
              <a:rPr lang="en-US" sz="5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accélérateur d’impact.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458075"/>
            <a:ext cx="1190625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spc="288" b="true">
                <a:solidFill>
                  <a:srgbClr val="B9EF3B"/>
                </a:solidFill>
                <a:latin typeface="DM Sans Bold"/>
                <a:ea typeface="DM Sans Bold"/>
                <a:cs typeface="DM Sans Bold"/>
                <a:sym typeface="DM Sans Bold"/>
              </a:rPr>
              <a:t>ACCESSIBILITÉ  •  PME &amp; STARTUPS  •  DIGITALISATION</a:t>
            </a:r>
          </a:p>
          <a:p>
            <a:pPr algn="l">
              <a:lnSpc>
                <a:spcPts val="2880"/>
              </a:lnSpc>
            </a:pPr>
            <a:r>
              <a:rPr lang="en-US" sz="1800" spc="288" b="true">
                <a:solidFill>
                  <a:srgbClr val="B9EF3B"/>
                </a:solidFill>
                <a:latin typeface="DM Sans Bold"/>
                <a:ea typeface="DM Sans Bold"/>
                <a:cs typeface="DM Sans Bold"/>
                <a:sym typeface="DM Sans Bold"/>
              </a:rPr>
              <a:t>JEUNES JURISTES  •  EXPANSION OHADA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21C7D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13  /  VISION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21C7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28750" y="2114550"/>
            <a:ext cx="15430500" cy="269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9"/>
              </a:lnSpc>
            </a:pPr>
            <a:r>
              <a:rPr lang="en-US" sz="68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DEVENIR UNE RÉFÉRENCE</a:t>
            </a:r>
          </a:p>
          <a:p>
            <a:pPr algn="ctr">
              <a:lnSpc>
                <a:spcPts val="7029"/>
              </a:lnSpc>
            </a:pPr>
            <a:r>
              <a:rPr lang="en-US" sz="68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LA LEGALTECH EN</a:t>
            </a:r>
          </a:p>
          <a:p>
            <a:pPr algn="ctr">
              <a:lnSpc>
                <a:spcPts val="7029"/>
              </a:lnSpc>
            </a:pPr>
            <a:r>
              <a:rPr lang="en-US" sz="68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AFRIQUE FRANCOPHONE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810500" y="6238875"/>
            <a:ext cx="2667000" cy="66675"/>
            <a:chOff x="0" y="0"/>
            <a:chExt cx="35560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56000" cy="88900"/>
            </a:xfrm>
            <a:custGeom>
              <a:avLst/>
              <a:gdLst/>
              <a:ahLst/>
              <a:cxnLst/>
              <a:rect r="r" b="b" t="t" l="l"/>
              <a:pathLst>
                <a:path h="889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B9EF3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56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524250" y="6629400"/>
            <a:ext cx="112395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21C7D9"/>
                </a:solidFill>
                <a:latin typeface="DM Sans"/>
                <a:ea typeface="DM Sans"/>
                <a:cs typeface="DM Sans"/>
                <a:sym typeface="DM Sans"/>
              </a:rPr>
              <a:t>Faire du droit un levier de croissance plutôt qu’un frein à l’entrepreneuriat.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53000" y="8934450"/>
            <a:ext cx="8382000" cy="230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3"/>
              </a:lnSpc>
            </a:pPr>
            <a:r>
              <a:rPr lang="en-US" sz="1425">
                <a:solidFill>
                  <a:srgbClr val="6F8597"/>
                </a:solidFill>
                <a:latin typeface="DM Sans"/>
                <a:ea typeface="DM Sans"/>
                <a:cs typeface="DM Sans"/>
                <a:sym typeface="DM Sans"/>
              </a:rPr>
              <a:t>« Apporter des solutions juridiques aux nations »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90550"/>
            <a:ext cx="16383000" cy="404812"/>
            <a:chOff x="0" y="0"/>
            <a:chExt cx="21844000" cy="5397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787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216" b="true">
                  <a:solidFill>
                    <a:srgbClr val="0B2B4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14  /  POURQUOI ADN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533400"/>
              <a:ext cx="21844000" cy="0"/>
            </a:xfrm>
            <a:prstGeom prst="line">
              <a:avLst/>
            </a:prstGeom>
            <a:ln cap="flat" w="12700">
              <a:solidFill>
                <a:srgbClr val="B9C8D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209678" y="3977309"/>
            <a:ext cx="7810500" cy="173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4"/>
              </a:lnSpc>
            </a:pPr>
            <a:r>
              <a:rPr lang="en-US" sz="6499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Quatre raisons</a:t>
            </a:r>
          </a:p>
          <a:p>
            <a:pPr algn="l">
              <a:lnSpc>
                <a:spcPts val="6694"/>
              </a:lnSpc>
            </a:pPr>
            <a:r>
              <a:rPr lang="en-US" sz="6499" b="true">
                <a:solidFill>
                  <a:srgbClr val="09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nous choisir.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0" y="1809750"/>
            <a:ext cx="3714750" cy="3143250"/>
            <a:chOff x="0" y="0"/>
            <a:chExt cx="4953000" cy="4191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953000" cy="4191000"/>
              <a:chOff x="0" y="0"/>
              <a:chExt cx="4953000" cy="4191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953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44500" y="438150"/>
              <a:ext cx="1524000" cy="668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36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44500" y="1422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spc="324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EXPERTISE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44500" y="2266950"/>
              <a:ext cx="4064000" cy="345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F8597"/>
                  </a:solidFill>
                  <a:latin typeface="DM Sans"/>
                  <a:ea typeface="DM Sans"/>
                  <a:cs typeface="DM Sans"/>
                  <a:sym typeface="DM Sans"/>
                </a:rPr>
                <a:t>Droit des affaires et numérique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68250" y="1809750"/>
            <a:ext cx="3714750" cy="3143250"/>
            <a:chOff x="0" y="0"/>
            <a:chExt cx="4953000" cy="4191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953000" cy="4191000"/>
              <a:chOff x="0" y="0"/>
              <a:chExt cx="4953000" cy="4191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953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4500" y="438150"/>
              <a:ext cx="1524000" cy="668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36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44500" y="1422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spc="324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ACCESSIBILITÉ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44500" y="2266950"/>
              <a:ext cx="40640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F8597"/>
                  </a:solidFill>
                  <a:latin typeface="DM Sans"/>
                  <a:ea typeface="DM Sans"/>
                  <a:cs typeface="DM Sans"/>
                  <a:sym typeface="DM Sans"/>
                </a:rPr>
                <a:t>Solutions adaptées et accessibles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72500" y="5524500"/>
            <a:ext cx="3714750" cy="3143250"/>
            <a:chOff x="0" y="0"/>
            <a:chExt cx="4953000" cy="4191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953000" cy="4191000"/>
              <a:chOff x="0" y="0"/>
              <a:chExt cx="4953000" cy="4191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953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E2B5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44500" y="438150"/>
              <a:ext cx="1524000" cy="668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36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44500" y="1422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spc="324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INNOVATION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44500" y="2266950"/>
              <a:ext cx="40640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F8597"/>
                  </a:solidFill>
                  <a:latin typeface="DM Sans"/>
                  <a:ea typeface="DM Sans"/>
                  <a:cs typeface="DM Sans"/>
                  <a:sym typeface="DM Sans"/>
                </a:rPr>
                <a:t>Pionniers des services juridiques digitalisés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668250" y="5524500"/>
            <a:ext cx="3714750" cy="3143250"/>
            <a:chOff x="0" y="0"/>
            <a:chExt cx="4953000" cy="4191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953000" cy="4191000"/>
              <a:chOff x="0" y="0"/>
              <a:chExt cx="4953000" cy="4191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953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44500" y="438150"/>
              <a:ext cx="1524000" cy="668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8"/>
                </a:lnSpc>
              </a:pPr>
              <a:r>
                <a:rPr lang="en-US" sz="3600" b="true">
                  <a:solidFill>
                    <a:srgbClr val="21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44500" y="1422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spc="324" b="true">
                  <a:solidFill>
                    <a:srgbClr val="09233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IMPACT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44500" y="2266950"/>
              <a:ext cx="4064000" cy="71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F8597"/>
                  </a:solidFill>
                  <a:latin typeface="DM Sans"/>
                  <a:ea typeface="DM Sans"/>
                  <a:cs typeface="DM Sans"/>
                  <a:sym typeface="DM Sans"/>
                </a:rPr>
                <a:t>Transformation et emploi durable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426">
                <a:alpha val="6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543050"/>
            <a:ext cx="9525000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CONSTRUIRE.</a:t>
            </a:r>
          </a:p>
          <a:p>
            <a:pPr algn="l">
              <a:lnSpc>
                <a:spcPts val="7725"/>
              </a:lnSpc>
            </a:pPr>
            <a:r>
              <a:rPr lang="en-US" sz="7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PROTÉGER.</a:t>
            </a:r>
          </a:p>
          <a:p>
            <a:pPr algn="l">
              <a:lnSpc>
                <a:spcPts val="7725"/>
              </a:lnSpc>
            </a:pPr>
            <a:r>
              <a:rPr lang="en-US" sz="7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GRANDIR.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5295900"/>
            <a:ext cx="904875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B9EF3B"/>
                </a:solidFill>
                <a:latin typeface="DM Sans"/>
                <a:ea typeface="DM Sans"/>
                <a:cs typeface="DM Sans"/>
                <a:sym typeface="DM Sans"/>
              </a:rPr>
              <a:t>ADN Consulting — Le droit au service de ceux qui construisent.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00" y="8572500"/>
            <a:ext cx="1428750" cy="57150"/>
            <a:chOff x="0" y="0"/>
            <a:chExt cx="19050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1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5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2500" y="9172575"/>
            <a:ext cx="11906250" cy="22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and@contrachap.com   •   (+225) 252 200 2316   •   www.contratchap.com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DAHU4aVNDhk</dc:identifier>
  <dcterms:modified xsi:type="dcterms:W3CDTF">2011-08-01T06:04:30Z</dcterms:modified>
  <cp:revision>1</cp:revision>
  <dc:title>ADN Consulting — dîner d’échange</dc:title>
</cp:coreProperties>
</file>