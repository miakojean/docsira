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536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2CEF8-E093-4CC2-B3D5-47998C0B2078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F7DAD-E983-45AA-A105-0D02791671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2279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2CEF8-E093-4CC2-B3D5-47998C0B2078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F7DAD-E983-45AA-A105-0D02791671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9888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2CEF8-E093-4CC2-B3D5-47998C0B2078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F7DAD-E983-45AA-A105-0D02791671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7358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2CEF8-E093-4CC2-B3D5-47998C0B2078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F7DAD-E983-45AA-A105-0D02791671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8682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2CEF8-E093-4CC2-B3D5-47998C0B2078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F7DAD-E983-45AA-A105-0D02791671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955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2CEF8-E093-4CC2-B3D5-47998C0B2078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F7DAD-E983-45AA-A105-0D02791671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468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2CEF8-E093-4CC2-B3D5-47998C0B2078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F7DAD-E983-45AA-A105-0D02791671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0013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2CEF8-E093-4CC2-B3D5-47998C0B2078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F7DAD-E983-45AA-A105-0D02791671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3826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2CEF8-E093-4CC2-B3D5-47998C0B2078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F7DAD-E983-45AA-A105-0D02791671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2426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2CEF8-E093-4CC2-B3D5-47998C0B2078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F7DAD-E983-45AA-A105-0D02791671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0269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2CEF8-E093-4CC2-B3D5-47998C0B2078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F7DAD-E983-45AA-A105-0D02791671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1059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92CEF8-E093-4CC2-B3D5-47998C0B2078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FF7DAD-E983-45AA-A105-0D02791671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4295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1745673" y="683491"/>
            <a:ext cx="74906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3200" b="1" dirty="0" smtClean="0">
                <a:solidFill>
                  <a:schemeClr val="bg1"/>
                </a:solidFill>
                <a:latin typeface="JetBrains Mono ExtraBold" panose="02000009000000000000" pitchFamily="49" charset="0"/>
                <a:ea typeface="JetBrains Mono ExtraBold" panose="02000009000000000000" pitchFamily="49" charset="0"/>
                <a:cs typeface="JetBrains Mono ExtraBold" panose="02000009000000000000" pitchFamily="49" charset="0"/>
              </a:rPr>
              <a:t>L’utilité du code en tant qu’économiste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1745673" y="2118057"/>
            <a:ext cx="884843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err="1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function</a:t>
            </a:r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</a:t>
            </a:r>
            <a:r>
              <a:rPr lang="fr-FR" sz="1400" dirty="0" err="1" smtClean="0">
                <a:solidFill>
                  <a:srgbClr val="FFFF00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évaluerUtilitéCodePourÉconomiste</a:t>
            </a:r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(</a:t>
            </a:r>
            <a:r>
              <a:rPr lang="fr-FR" sz="1400" dirty="0" err="1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théoriesÉconomiques</a:t>
            </a:r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, </a:t>
            </a:r>
            <a:r>
              <a:rPr lang="fr-FR" sz="1400" dirty="0" err="1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problèmesConcrets</a:t>
            </a:r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) </a:t>
            </a:r>
            <a:r>
              <a:rPr lang="fr-FR" sz="1400" dirty="0" smtClean="0">
                <a:solidFill>
                  <a:srgbClr val="FFFF00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{</a:t>
            </a:r>
          </a:p>
          <a:p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   </a:t>
            </a:r>
            <a:r>
              <a:rPr lang="fr-FR" sz="1400" dirty="0" err="1" smtClean="0">
                <a:solidFill>
                  <a:schemeClr val="accent1">
                    <a:lumMod val="40000"/>
                    <a:lumOff val="60000"/>
                  </a:schemeClr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const</a:t>
            </a:r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</a:t>
            </a:r>
            <a:r>
              <a:rPr lang="fr-FR" sz="1400" dirty="0" err="1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aucunProblèmeIdentifié</a:t>
            </a:r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</a:t>
            </a:r>
            <a:r>
              <a:rPr lang="fr-FR" sz="1400" dirty="0" smtClean="0">
                <a:solidFill>
                  <a:schemeClr val="bg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=</a:t>
            </a:r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</a:t>
            </a:r>
            <a:r>
              <a:rPr lang="fr-FR" sz="1400" dirty="0" err="1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problèmesConcrets.length</a:t>
            </a:r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=== 0;</a:t>
            </a:r>
          </a:p>
          <a:p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   </a:t>
            </a:r>
          </a:p>
          <a:p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   if (</a:t>
            </a:r>
            <a:r>
              <a:rPr lang="fr-FR" sz="1400" dirty="0" err="1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aucunProblèmeIdentifié</a:t>
            </a:r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) {</a:t>
            </a:r>
          </a:p>
          <a:p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       </a:t>
            </a:r>
            <a:r>
              <a:rPr lang="fr-FR" sz="1400" dirty="0" smtClean="0">
                <a:solidFill>
                  <a:srgbClr val="FF0066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return</a:t>
            </a:r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</a:t>
            </a:r>
            <a:r>
              <a:rPr lang="fr-FR" sz="1400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'Aucun problème économique à résoudre actuellement'</a:t>
            </a:r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;</a:t>
            </a:r>
          </a:p>
          <a:p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   }</a:t>
            </a:r>
          </a:p>
          <a:p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   </a:t>
            </a:r>
          </a:p>
          <a:p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   </a:t>
            </a:r>
            <a:r>
              <a:rPr lang="fr-FR" sz="1400" dirty="0" err="1" smtClean="0">
                <a:solidFill>
                  <a:schemeClr val="accent1">
                    <a:lumMod val="40000"/>
                    <a:lumOff val="60000"/>
                  </a:schemeClr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const</a:t>
            </a:r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</a:t>
            </a:r>
            <a:r>
              <a:rPr lang="fr-FR" sz="1400" dirty="0" err="1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utilitéDémontrée</a:t>
            </a:r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</a:t>
            </a:r>
            <a:r>
              <a:rPr lang="fr-FR" sz="1400" dirty="0" smtClean="0">
                <a:solidFill>
                  <a:schemeClr val="bg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=</a:t>
            </a:r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</a:t>
            </a:r>
            <a:r>
              <a:rPr lang="fr-FR" sz="1400" dirty="0" err="1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théoriesÉconomiques.</a:t>
            </a:r>
            <a:r>
              <a:rPr lang="fr-FR" sz="1400" dirty="0" err="1" smtClean="0">
                <a:solidFill>
                  <a:srgbClr val="FFFF00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some</a:t>
            </a:r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(théorie =&gt; </a:t>
            </a:r>
          </a:p>
          <a:p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       </a:t>
            </a:r>
            <a:r>
              <a:rPr lang="fr-FR" sz="1400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théorieréaliseDesPrédictions</a:t>
            </a:r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|| </a:t>
            </a:r>
            <a:r>
              <a:rPr lang="fr-FR" sz="1400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théorie.permetUneModélisation</a:t>
            </a:r>
            <a:endParaRPr lang="fr-FR" sz="1400" dirty="0" smtClean="0">
              <a:solidFill>
                <a:schemeClr val="accent1">
                  <a:lumMod val="20000"/>
                  <a:lumOff val="80000"/>
                </a:schemeClr>
              </a:solidFill>
              <a:latin typeface="JetBrains Mono NL SemiBold" panose="02000009000000000000" pitchFamily="49" charset="0"/>
              <a:ea typeface="JetBrains Mono NL SemiBold" panose="02000009000000000000" pitchFamily="49" charset="0"/>
              <a:cs typeface="JetBrains Mono NL SemiBold" panose="02000009000000000000" pitchFamily="49" charset="0"/>
            </a:endParaRPr>
          </a:p>
          <a:p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   );</a:t>
            </a:r>
          </a:p>
          <a:p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   </a:t>
            </a:r>
          </a:p>
          <a:p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   </a:t>
            </a:r>
            <a:r>
              <a:rPr lang="fr-FR" sz="1400" dirty="0" smtClean="0">
                <a:solidFill>
                  <a:srgbClr val="FF0066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return</a:t>
            </a:r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</a:t>
            </a:r>
            <a:r>
              <a:rPr lang="fr-FR" sz="1400" dirty="0" err="1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utilitéDémontrée</a:t>
            </a:r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</a:t>
            </a:r>
          </a:p>
          <a:p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       ? </a:t>
            </a:r>
            <a:r>
              <a:rPr lang="fr-FR" sz="1400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'Le code permet de modéliser et tester des théories économiques'</a:t>
            </a:r>
          </a:p>
          <a:p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       : </a:t>
            </a:r>
            <a:r>
              <a:rPr lang="fr-FR" sz="1400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'Les théories nécessitent une modélisation supplémentaire';</a:t>
            </a:r>
          </a:p>
          <a:p>
            <a:r>
              <a:rPr lang="fr-FR" sz="1400" dirty="0" smtClean="0">
                <a:solidFill>
                  <a:srgbClr val="FFFF00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}</a:t>
            </a:r>
            <a:endParaRPr lang="fr-FR" sz="1400" dirty="0">
              <a:solidFill>
                <a:srgbClr val="FFFF00"/>
              </a:solidFill>
              <a:latin typeface="JetBrains Mono NL SemiBold" panose="02000009000000000000" pitchFamily="49" charset="0"/>
              <a:ea typeface="JetBrains Mono NL SemiBold" panose="02000009000000000000" pitchFamily="49" charset="0"/>
              <a:cs typeface="JetBrains Mono NL SemiBold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3185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1745673" y="683491"/>
            <a:ext cx="74906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3200" b="1" dirty="0" smtClean="0">
                <a:solidFill>
                  <a:schemeClr val="bg1"/>
                </a:solidFill>
                <a:latin typeface="JetBrains Mono ExtraBold" panose="02000009000000000000" pitchFamily="49" charset="0"/>
                <a:ea typeface="JetBrains Mono ExtraBold" panose="02000009000000000000" pitchFamily="49" charset="0"/>
                <a:cs typeface="JetBrains Mono ExtraBold" panose="02000009000000000000" pitchFamily="49" charset="0"/>
              </a:rPr>
              <a:t>L’utilité du code en </a:t>
            </a:r>
            <a:r>
              <a:rPr lang="fr-FR" sz="3200" b="1" smtClean="0">
                <a:solidFill>
                  <a:schemeClr val="bg1"/>
                </a:solidFill>
                <a:latin typeface="JetBrains Mono ExtraBold" panose="02000009000000000000" pitchFamily="49" charset="0"/>
                <a:ea typeface="JetBrains Mono ExtraBold" panose="02000009000000000000" pitchFamily="49" charset="0"/>
                <a:cs typeface="JetBrains Mono ExtraBold" panose="02000009000000000000" pitchFamily="49" charset="0"/>
              </a:rPr>
              <a:t>tant qu’économiste</a:t>
            </a:r>
            <a:endParaRPr lang="fr-FR" sz="3200" b="1" dirty="0" smtClean="0">
              <a:solidFill>
                <a:schemeClr val="bg1"/>
              </a:solidFill>
              <a:latin typeface="JetBrains Mono ExtraBold" panose="02000009000000000000" pitchFamily="49" charset="0"/>
              <a:ea typeface="JetBrains Mono ExtraBold" panose="02000009000000000000" pitchFamily="49" charset="0"/>
              <a:cs typeface="JetBrains Mono ExtraBold" panose="02000009000000000000" pitchFamily="49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1745673" y="2118057"/>
            <a:ext cx="884843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err="1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function</a:t>
            </a:r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</a:t>
            </a:r>
            <a:r>
              <a:rPr lang="fr-FR" sz="1400" dirty="0" err="1" smtClean="0">
                <a:solidFill>
                  <a:srgbClr val="FFFF00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évaluerUtilitéCodePourÉconomiste</a:t>
            </a:r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(</a:t>
            </a:r>
            <a:r>
              <a:rPr lang="fr-FR" sz="1400" dirty="0" err="1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théoriesÉconomiques</a:t>
            </a:r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, </a:t>
            </a:r>
            <a:r>
              <a:rPr lang="fr-FR" sz="1400" dirty="0" err="1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problèmesConcrets</a:t>
            </a:r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) </a:t>
            </a:r>
            <a:r>
              <a:rPr lang="fr-FR" sz="1400" dirty="0" smtClean="0">
                <a:solidFill>
                  <a:srgbClr val="FFFF00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{</a:t>
            </a:r>
          </a:p>
          <a:p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   </a:t>
            </a:r>
            <a:r>
              <a:rPr lang="fr-FR" sz="1400" dirty="0" err="1" smtClean="0">
                <a:solidFill>
                  <a:schemeClr val="accent1">
                    <a:lumMod val="40000"/>
                    <a:lumOff val="60000"/>
                  </a:schemeClr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const</a:t>
            </a:r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</a:t>
            </a:r>
            <a:r>
              <a:rPr lang="fr-FR" sz="1400" dirty="0" err="1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aucunProblèmeIdentifié</a:t>
            </a:r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</a:t>
            </a:r>
            <a:r>
              <a:rPr lang="fr-FR" sz="1400" dirty="0" smtClean="0">
                <a:solidFill>
                  <a:schemeClr val="bg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=</a:t>
            </a:r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</a:t>
            </a:r>
            <a:r>
              <a:rPr lang="fr-FR" sz="1400" dirty="0" err="1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problèmesConcrets.length</a:t>
            </a:r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=== 0;</a:t>
            </a:r>
          </a:p>
          <a:p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   </a:t>
            </a:r>
          </a:p>
          <a:p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   if (</a:t>
            </a:r>
            <a:r>
              <a:rPr lang="fr-FR" sz="1400" dirty="0" err="1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aucunProblèmeIdentifié</a:t>
            </a:r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) {</a:t>
            </a:r>
          </a:p>
          <a:p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       </a:t>
            </a:r>
            <a:r>
              <a:rPr lang="fr-FR" sz="1400" dirty="0" smtClean="0">
                <a:solidFill>
                  <a:srgbClr val="FF0066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return</a:t>
            </a:r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</a:t>
            </a:r>
            <a:r>
              <a:rPr lang="fr-FR" sz="1400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'Aucun problème économique à résoudre actuellement'</a:t>
            </a:r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;</a:t>
            </a:r>
          </a:p>
          <a:p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   }</a:t>
            </a:r>
          </a:p>
          <a:p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   </a:t>
            </a:r>
          </a:p>
          <a:p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   </a:t>
            </a:r>
            <a:r>
              <a:rPr lang="fr-FR" sz="1400" dirty="0" err="1" smtClean="0">
                <a:solidFill>
                  <a:schemeClr val="accent1">
                    <a:lumMod val="40000"/>
                    <a:lumOff val="60000"/>
                  </a:schemeClr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const</a:t>
            </a:r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</a:t>
            </a:r>
            <a:r>
              <a:rPr lang="fr-FR" sz="1400" dirty="0" err="1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utilitéDémontrée</a:t>
            </a:r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</a:t>
            </a:r>
            <a:r>
              <a:rPr lang="fr-FR" sz="1400" dirty="0" smtClean="0">
                <a:solidFill>
                  <a:schemeClr val="bg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=</a:t>
            </a:r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</a:t>
            </a:r>
            <a:r>
              <a:rPr lang="fr-FR" sz="1400" dirty="0" err="1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théoriesÉconomiques.</a:t>
            </a:r>
            <a:r>
              <a:rPr lang="fr-FR" sz="1400" dirty="0" err="1" smtClean="0">
                <a:solidFill>
                  <a:srgbClr val="FFFF00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some</a:t>
            </a:r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(théorie =&gt; </a:t>
            </a:r>
          </a:p>
          <a:p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       </a:t>
            </a:r>
            <a:r>
              <a:rPr lang="fr-FR" sz="1400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théorieréaliseDesPrédictions</a:t>
            </a:r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|| </a:t>
            </a:r>
            <a:r>
              <a:rPr lang="fr-FR" sz="1400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théorie.permetUneModélisation</a:t>
            </a:r>
            <a:endParaRPr lang="fr-FR" sz="1400" dirty="0" smtClean="0">
              <a:solidFill>
                <a:schemeClr val="accent1">
                  <a:lumMod val="20000"/>
                  <a:lumOff val="80000"/>
                </a:schemeClr>
              </a:solidFill>
              <a:latin typeface="JetBrains Mono NL SemiBold" panose="02000009000000000000" pitchFamily="49" charset="0"/>
              <a:ea typeface="JetBrains Mono NL SemiBold" panose="02000009000000000000" pitchFamily="49" charset="0"/>
              <a:cs typeface="JetBrains Mono NL SemiBold" panose="02000009000000000000" pitchFamily="49" charset="0"/>
            </a:endParaRPr>
          </a:p>
          <a:p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   );</a:t>
            </a:r>
          </a:p>
          <a:p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   </a:t>
            </a:r>
          </a:p>
          <a:p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   </a:t>
            </a:r>
            <a:r>
              <a:rPr lang="fr-FR" sz="1400" dirty="0" smtClean="0">
                <a:solidFill>
                  <a:srgbClr val="FF0066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return</a:t>
            </a:r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</a:t>
            </a:r>
            <a:r>
              <a:rPr lang="fr-FR" sz="1400" dirty="0" err="1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utilitéDémontrée</a:t>
            </a:r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</a:t>
            </a:r>
          </a:p>
          <a:p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       ? </a:t>
            </a:r>
            <a:r>
              <a:rPr lang="fr-FR" sz="1400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'Le code permet de modéliser et tester des théories économiques'</a:t>
            </a:r>
          </a:p>
          <a:p>
            <a:r>
              <a:rPr lang="fr-FR" sz="1400" dirty="0" smtClean="0">
                <a:solidFill>
                  <a:schemeClr val="accent1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        : </a:t>
            </a:r>
            <a:r>
              <a:rPr lang="fr-FR" sz="1400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'Les théories nécessitent une modélisation supplémentaire';</a:t>
            </a:r>
          </a:p>
          <a:p>
            <a:r>
              <a:rPr lang="fr-FR" sz="1400" dirty="0" smtClean="0">
                <a:solidFill>
                  <a:srgbClr val="FFFF00"/>
                </a:solidFill>
                <a:latin typeface="JetBrains Mono NL SemiBold" panose="02000009000000000000" pitchFamily="49" charset="0"/>
                <a:ea typeface="JetBrains Mono NL SemiBold" panose="02000009000000000000" pitchFamily="49" charset="0"/>
                <a:cs typeface="JetBrains Mono NL SemiBold" panose="02000009000000000000" pitchFamily="49" charset="0"/>
              </a:rPr>
              <a:t>}</a:t>
            </a:r>
            <a:endParaRPr lang="fr-FR" sz="1400" dirty="0">
              <a:solidFill>
                <a:srgbClr val="FFFF00"/>
              </a:solidFill>
              <a:latin typeface="JetBrains Mono NL SemiBold" panose="02000009000000000000" pitchFamily="49" charset="0"/>
              <a:ea typeface="JetBrains Mono NL SemiBold" panose="02000009000000000000" pitchFamily="49" charset="0"/>
              <a:cs typeface="JetBrains Mono NL SemiBold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445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1921</TotalTime>
  <Words>156</Words>
  <Application>Microsoft Office PowerPoint</Application>
  <PresentationFormat>Grand écran</PresentationFormat>
  <Paragraphs>32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JetBrains Mono ExtraBold</vt:lpstr>
      <vt:lpstr>JetBrains Mono NL SemiBold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ADN COM</dc:creator>
  <cp:lastModifiedBy>ADN COM</cp:lastModifiedBy>
  <cp:revision>4</cp:revision>
  <dcterms:created xsi:type="dcterms:W3CDTF">2026-01-19T00:59:58Z</dcterms:created>
  <dcterms:modified xsi:type="dcterms:W3CDTF">2026-01-20T09:01:28Z</dcterms:modified>
</cp:coreProperties>
</file>